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9" r:id="rId2"/>
    <p:sldId id="261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41"/>
    <p:restoredTop sz="92170"/>
  </p:normalViewPr>
  <p:slideViewPr>
    <p:cSldViewPr snapToGrid="0" snapToObjects="1">
      <p:cViewPr varScale="1">
        <p:scale>
          <a:sx n="72" d="100"/>
          <a:sy n="72" d="100"/>
        </p:scale>
        <p:origin x="6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9DA71-5BC2-2E45-8077-7346AE4C882A}" type="datetimeFigureOut">
              <a:rPr kumimoji="1" lang="zh-CN" altLang="en-US" smtClean="0"/>
              <a:t>2020/1/19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1ADA2-B62A-F243-A15E-B31C5B3C033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5065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1ADA2-B62A-F243-A15E-B31C5B3C033C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1115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4F2CDE-0351-A148-A202-6D8D94AD3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524" y="576469"/>
            <a:ext cx="5548307" cy="5744817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sz="2400" dirty="0">
                <a:solidFill>
                  <a:srgbClr val="113381"/>
                </a:solidFill>
                <a:latin typeface="Times New Roman" panose="02020603050405020304" pitchFamily="18" charset="0"/>
              </a:rPr>
              <a:t>张</a:t>
            </a:r>
            <a:r>
              <a:rPr kumimoji="1" lang="en-US" altLang="zh-CN" sz="2400" dirty="0">
                <a:solidFill>
                  <a:srgbClr val="113381"/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sz="2400" dirty="0">
                <a:solidFill>
                  <a:srgbClr val="113381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 dirty="0">
                <a:solidFill>
                  <a:srgbClr val="113381"/>
                </a:solidFill>
                <a:latin typeface="Times New Roman" panose="02020603050405020304" pitchFamily="18" charset="0"/>
              </a:rPr>
              <a:t>19XX</a:t>
            </a:r>
            <a:r>
              <a:rPr kumimoji="1" lang="zh-CN" altLang="en-US" sz="2400" dirty="0">
                <a:solidFill>
                  <a:srgbClr val="113381"/>
                </a:solidFill>
                <a:latin typeface="Times New Roman" panose="02020603050405020304" pitchFamily="18" charset="0"/>
              </a:rPr>
              <a:t>年，</a:t>
            </a:r>
            <a:r>
              <a:rPr kumimoji="1" lang="en-US" altLang="zh-CN" sz="2400" dirty="0">
                <a:solidFill>
                  <a:srgbClr val="113381"/>
                </a:solidFill>
                <a:latin typeface="Times New Roman" panose="02020603050405020304" pitchFamily="18" charset="0"/>
              </a:rPr>
              <a:t>XX</a:t>
            </a:r>
            <a:r>
              <a:rPr kumimoji="1" lang="zh-CN" altLang="en-US" sz="2400" dirty="0">
                <a:solidFill>
                  <a:srgbClr val="113381"/>
                </a:solidFill>
                <a:latin typeface="Times New Roman" panose="02020603050405020304" pitchFamily="18" charset="0"/>
              </a:rPr>
              <a:t>大学，助理教授</a:t>
            </a:r>
            <a:r>
              <a:rPr kumimoji="1" lang="en-US" altLang="zh-CN" sz="2400" dirty="0">
                <a:solidFill>
                  <a:srgbClr val="113381"/>
                </a:solidFill>
                <a:latin typeface="Times New Roman" panose="02020603050405020304" pitchFamily="18" charset="0"/>
              </a:rPr>
              <a:t>/</a:t>
            </a:r>
            <a:r>
              <a:rPr kumimoji="1" lang="zh-CN" altLang="en-US" sz="2400" dirty="0">
                <a:solidFill>
                  <a:srgbClr val="113381"/>
                </a:solidFill>
                <a:latin typeface="Times New Roman" panose="02020603050405020304" pitchFamily="18" charset="0"/>
              </a:rPr>
              <a:t>副教授</a:t>
            </a:r>
            <a:r>
              <a:rPr kumimoji="1" lang="en-US" altLang="zh-CN" sz="2400" dirty="0">
                <a:solidFill>
                  <a:srgbClr val="113381"/>
                </a:solidFill>
                <a:latin typeface="Times New Roman" panose="02020603050405020304" pitchFamily="18" charset="0"/>
              </a:rPr>
              <a:t>/</a:t>
            </a:r>
            <a:r>
              <a:rPr kumimoji="1" lang="zh-CN" altLang="en-US" sz="2400" dirty="0">
                <a:solidFill>
                  <a:srgbClr val="113381"/>
                </a:solidFill>
                <a:latin typeface="Times New Roman" panose="02020603050405020304" pitchFamily="18" charset="0"/>
              </a:rPr>
              <a:t>教授</a:t>
            </a:r>
            <a:endParaRPr kumimoji="1" lang="en-US" altLang="zh-CN" sz="2400" dirty="0"/>
          </a:p>
          <a:p>
            <a:r>
              <a:rPr kumimoji="1" lang="zh-CN" altLang="en-US" sz="2400" dirty="0">
                <a:solidFill>
                  <a:srgbClr val="113381"/>
                </a:solidFill>
                <a:latin typeface="Times New Roman" panose="02020603050405020304" pitchFamily="18" charset="0"/>
              </a:rPr>
              <a:t>学习经历：</a:t>
            </a:r>
            <a:endParaRPr kumimoji="1" lang="en-US" altLang="zh-CN" sz="2400" dirty="0">
              <a:solidFill>
                <a:srgbClr val="113381"/>
              </a:solidFill>
              <a:latin typeface="Times New Roman" panose="02020603050405020304" pitchFamily="18" charset="0"/>
            </a:endParaRPr>
          </a:p>
          <a:p>
            <a:pPr marL="841248" lvl="2">
              <a:spcBef>
                <a:spcPts val="1000"/>
              </a:spcBef>
              <a:buFont typeface="Wingdings" pitchFamily="2" charset="2"/>
              <a:buChar char="Ø"/>
            </a:pP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20XX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年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-20XX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年：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XXX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大学，博士</a:t>
            </a:r>
            <a:endParaRPr kumimoji="1" lang="en-US" altLang="zh-CN" dirty="0">
              <a:solidFill>
                <a:srgbClr val="113381"/>
              </a:solidFill>
              <a:latin typeface="Times New Roman" panose="02020603050405020304" pitchFamily="18" charset="0"/>
            </a:endParaRPr>
          </a:p>
          <a:p>
            <a:pPr marL="841248" lvl="2">
              <a:spcBef>
                <a:spcPts val="1000"/>
              </a:spcBef>
              <a:buFont typeface="Wingdings" pitchFamily="2" charset="2"/>
              <a:buChar char="Ø"/>
            </a:pP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20XX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年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-20XX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年：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XXX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大学，硕士</a:t>
            </a:r>
            <a:endParaRPr kumimoji="1" lang="en-US" altLang="zh-CN" dirty="0">
              <a:solidFill>
                <a:srgbClr val="113381"/>
              </a:solidFill>
              <a:latin typeface="Times New Roman" panose="02020603050405020304" pitchFamily="18" charset="0"/>
            </a:endParaRPr>
          </a:p>
          <a:p>
            <a:pPr marL="841248" lvl="2">
              <a:spcBef>
                <a:spcPts val="1000"/>
              </a:spcBef>
              <a:buFont typeface="Wingdings" pitchFamily="2" charset="2"/>
              <a:buChar char="Ø"/>
            </a:pP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20XX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年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-20XX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年：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XXX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大学，学士</a:t>
            </a:r>
            <a:endParaRPr kumimoji="1" lang="en-US" altLang="zh-CN" dirty="0">
              <a:solidFill>
                <a:srgbClr val="113381"/>
              </a:solidFill>
              <a:latin typeface="Times New Roman" panose="02020603050405020304" pitchFamily="18" charset="0"/>
            </a:endParaRPr>
          </a:p>
          <a:p>
            <a:r>
              <a:rPr kumimoji="1" lang="zh-CN" altLang="en-US" sz="2400" dirty="0">
                <a:solidFill>
                  <a:srgbClr val="113381"/>
                </a:solidFill>
                <a:latin typeface="Times New Roman" panose="02020603050405020304" pitchFamily="18" charset="0"/>
              </a:rPr>
              <a:t>工作经历：</a:t>
            </a:r>
            <a:endParaRPr kumimoji="1" lang="en-US" altLang="zh-CN" sz="2400" dirty="0">
              <a:solidFill>
                <a:srgbClr val="113381"/>
              </a:solidFill>
              <a:latin typeface="Times New Roman" panose="02020603050405020304" pitchFamily="18" charset="0"/>
            </a:endParaRPr>
          </a:p>
          <a:p>
            <a:pPr marL="841248" lvl="2">
              <a:spcBef>
                <a:spcPts val="1000"/>
              </a:spcBef>
              <a:buFont typeface="Wingdings" pitchFamily="2" charset="2"/>
              <a:buChar char="Ø"/>
            </a:pP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20XX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年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-20XX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年：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XXX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大学，助理教授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/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副教授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/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教授</a:t>
            </a:r>
            <a:endParaRPr kumimoji="1" lang="en-US" altLang="zh-CN" dirty="0">
              <a:solidFill>
                <a:srgbClr val="113381"/>
              </a:solidFill>
              <a:latin typeface="Times New Roman" panose="02020603050405020304" pitchFamily="18" charset="0"/>
            </a:endParaRPr>
          </a:p>
          <a:p>
            <a:pPr marL="841248" lvl="2">
              <a:spcBef>
                <a:spcPts val="1000"/>
              </a:spcBef>
              <a:buFont typeface="Wingdings" pitchFamily="2" charset="2"/>
              <a:buChar char="Ø"/>
            </a:pP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20XX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年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-20XX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年：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XXX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大学，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XX</a:t>
            </a:r>
          </a:p>
          <a:p>
            <a:pPr marL="841248" lvl="2">
              <a:spcBef>
                <a:spcPts val="1000"/>
              </a:spcBef>
              <a:buFont typeface="Wingdings" pitchFamily="2" charset="2"/>
              <a:buChar char="Ø"/>
            </a:pP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20XX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年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-20XX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年：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XXX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大学，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XX</a:t>
            </a:r>
          </a:p>
          <a:p>
            <a:pPr marL="384048" lvl="1">
              <a:spcBef>
                <a:spcPts val="1000"/>
              </a:spcBef>
              <a:buFont typeface="Franklin Gothic Book" panose="020B0503020102020204" pitchFamily="34" charset="0"/>
              <a:buChar char="■"/>
            </a:pPr>
            <a:r>
              <a:rPr kumimoji="1" lang="zh-CN" altLang="en-US" sz="2400" i="0" dirty="0">
                <a:solidFill>
                  <a:srgbClr val="113381"/>
                </a:solidFill>
                <a:latin typeface="Times New Roman" panose="02020603050405020304" pitchFamily="18" charset="0"/>
              </a:rPr>
              <a:t>研究领域：</a:t>
            </a:r>
            <a:endParaRPr kumimoji="1" lang="en-US" altLang="zh-CN" sz="2400" i="0" dirty="0">
              <a:solidFill>
                <a:srgbClr val="113381"/>
              </a:solidFill>
              <a:latin typeface="Times New Roman" panose="02020603050405020304" pitchFamily="18" charset="0"/>
            </a:endParaRPr>
          </a:p>
          <a:p>
            <a:pPr marL="841248" lvl="2">
              <a:spcBef>
                <a:spcPts val="1000"/>
              </a:spcBef>
              <a:buFont typeface="Wingdings" pitchFamily="2" charset="2"/>
              <a:buChar char="Ø"/>
            </a:pP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例如：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机器学习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/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计算机视觉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/XXXX</a:t>
            </a:r>
          </a:p>
          <a:p>
            <a:pPr marL="384048" lvl="1">
              <a:spcBef>
                <a:spcPts val="1000"/>
              </a:spcBef>
              <a:buFont typeface="Franklin Gothic Book" panose="020B0503020102020204" pitchFamily="34" charset="0"/>
              <a:buChar char="■"/>
            </a:pPr>
            <a:r>
              <a:rPr kumimoji="1" lang="zh-CN" altLang="en-US" sz="2400" i="0" dirty="0">
                <a:solidFill>
                  <a:srgbClr val="113381"/>
                </a:solidFill>
                <a:latin typeface="Times New Roman" panose="02020603050405020304" pitchFamily="18" charset="0"/>
              </a:rPr>
              <a:t>研究方向：</a:t>
            </a:r>
            <a:endParaRPr kumimoji="1" lang="en-US" altLang="zh-CN" sz="2400" i="0" dirty="0">
              <a:solidFill>
                <a:srgbClr val="113381"/>
              </a:solidFill>
              <a:latin typeface="Times New Roman" panose="02020603050405020304" pitchFamily="18" charset="0"/>
            </a:endParaRPr>
          </a:p>
          <a:p>
            <a:pPr marL="841248" lvl="2">
              <a:spcBef>
                <a:spcPts val="1000"/>
              </a:spcBef>
              <a:buFont typeface="Wingdings" pitchFamily="2" charset="2"/>
              <a:buChar char="Ø"/>
            </a:pP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例如：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物体检测，人脸识别</a:t>
            </a:r>
            <a:endParaRPr kumimoji="1" lang="en-US" altLang="zh-CN" dirty="0">
              <a:solidFill>
                <a:srgbClr val="113381"/>
              </a:solidFill>
              <a:latin typeface="Times New Roman" panose="02020603050405020304" pitchFamily="18" charset="0"/>
            </a:endParaRPr>
          </a:p>
          <a:p>
            <a:pPr marL="530352" lvl="1" indent="0">
              <a:buNone/>
            </a:pP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47A628-E42B-4043-8102-51CD10979AA9}"/>
              </a:ext>
            </a:extLst>
          </p:cNvPr>
          <p:cNvSpPr/>
          <p:nvPr/>
        </p:nvSpPr>
        <p:spPr>
          <a:xfrm>
            <a:off x="1371599" y="0"/>
            <a:ext cx="50412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个人主页：</a:t>
            </a:r>
            <a:r>
              <a:rPr kumimoji="1"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www.xxxx.com</a:t>
            </a:r>
            <a:endParaRPr kumimoji="1" lang="zh-CN" alt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1B90EE9-F642-704D-B427-03B56C8E6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733517"/>
              </p:ext>
            </p:extLst>
          </p:nvPr>
        </p:nvGraphicFramePr>
        <p:xfrm>
          <a:off x="6706896" y="576469"/>
          <a:ext cx="531330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6334">
                  <a:extLst>
                    <a:ext uri="{9D8B030D-6E8A-4147-A177-3AD203B41FA5}">
                      <a16:colId xmlns:a16="http://schemas.microsoft.com/office/drawing/2014/main" val="2897598901"/>
                    </a:ext>
                  </a:extLst>
                </a:gridCol>
                <a:gridCol w="846972">
                  <a:extLst>
                    <a:ext uri="{9D8B030D-6E8A-4147-A177-3AD203B41FA5}">
                      <a16:colId xmlns:a16="http://schemas.microsoft.com/office/drawing/2014/main" val="593952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发表文章情况（一作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通信）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5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PAMI/IJCV/JMLR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195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TIP/TCSVT/TNNLS/ML 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447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CVPR/ICCV/ECCV/NIPS/ICML/ACM MM/ICLR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579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PR/CVIU/PRL/Neurocomputing/AAAI/IJCAI 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11868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332CF97-864B-444D-8AB2-8925AF228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303041"/>
              </p:ext>
            </p:extLst>
          </p:nvPr>
        </p:nvGraphicFramePr>
        <p:xfrm>
          <a:off x="6706896" y="2572396"/>
          <a:ext cx="5312505" cy="6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501">
                  <a:extLst>
                    <a:ext uri="{9D8B030D-6E8A-4147-A177-3AD203B41FA5}">
                      <a16:colId xmlns:a16="http://schemas.microsoft.com/office/drawing/2014/main" val="1066962081"/>
                    </a:ext>
                  </a:extLst>
                </a:gridCol>
                <a:gridCol w="1062501">
                  <a:extLst>
                    <a:ext uri="{9D8B030D-6E8A-4147-A177-3AD203B41FA5}">
                      <a16:colId xmlns:a16="http://schemas.microsoft.com/office/drawing/2014/main" val="146839463"/>
                    </a:ext>
                  </a:extLst>
                </a:gridCol>
                <a:gridCol w="1062501">
                  <a:extLst>
                    <a:ext uri="{9D8B030D-6E8A-4147-A177-3AD203B41FA5}">
                      <a16:colId xmlns:a16="http://schemas.microsoft.com/office/drawing/2014/main" val="3068089803"/>
                    </a:ext>
                  </a:extLst>
                </a:gridCol>
                <a:gridCol w="1062501">
                  <a:extLst>
                    <a:ext uri="{9D8B030D-6E8A-4147-A177-3AD203B41FA5}">
                      <a16:colId xmlns:a16="http://schemas.microsoft.com/office/drawing/2014/main" val="738840966"/>
                    </a:ext>
                  </a:extLst>
                </a:gridCol>
                <a:gridCol w="1062501">
                  <a:extLst>
                    <a:ext uri="{9D8B030D-6E8A-4147-A177-3AD203B41FA5}">
                      <a16:colId xmlns:a16="http://schemas.microsoft.com/office/drawing/2014/main" val="3042784470"/>
                    </a:ext>
                  </a:extLst>
                </a:gridCol>
              </a:tblGrid>
              <a:tr h="320400"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谷歌学术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引用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i-10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单篇最高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507103"/>
                  </a:ext>
                </a:extLst>
              </a:tr>
              <a:tr h="320400"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925386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97369D6A-F2F4-4049-A4C9-881069D8F695}"/>
              </a:ext>
            </a:extLst>
          </p:cNvPr>
          <p:cNvSpPr/>
          <p:nvPr/>
        </p:nvSpPr>
        <p:spPr>
          <a:xfrm>
            <a:off x="6706897" y="0"/>
            <a:ext cx="50412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Scholar</a:t>
            </a:r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www.xxxx.com</a:t>
            </a:r>
            <a:endParaRPr kumimoji="1" lang="zh-CN" alt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999542EB-2964-834B-9566-DA4D2DADB334}"/>
              </a:ext>
            </a:extLst>
          </p:cNvPr>
          <p:cNvCxnSpPr>
            <a:cxnSpLocks/>
          </p:cNvCxnSpPr>
          <p:nvPr/>
        </p:nvCxnSpPr>
        <p:spPr>
          <a:xfrm>
            <a:off x="6529206" y="294129"/>
            <a:ext cx="0" cy="6347023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5ED25A78-3871-2C42-8E60-8451524702CE}"/>
              </a:ext>
            </a:extLst>
          </p:cNvPr>
          <p:cNvSpPr/>
          <p:nvPr/>
        </p:nvSpPr>
        <p:spPr>
          <a:xfrm>
            <a:off x="6706896" y="4510474"/>
            <a:ext cx="5313306" cy="1296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4048" lvl="1" indent="-384048" defTabSz="914400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kumimoji="1" lang="zh-CN" altLang="en-US" sz="2400" dirty="0">
                <a:solidFill>
                  <a:srgbClr val="113381"/>
                </a:solidFill>
                <a:latin typeface="Times New Roman" panose="02020603050405020304" pitchFamily="18" charset="0"/>
              </a:rPr>
              <a:t>其他：</a:t>
            </a:r>
            <a:endParaRPr kumimoji="1" lang="en-US" altLang="zh-CN" sz="2400" dirty="0">
              <a:solidFill>
                <a:srgbClr val="113381"/>
              </a:solidFill>
              <a:latin typeface="Times New Roman" panose="02020603050405020304" pitchFamily="18" charset="0"/>
            </a:endParaRPr>
          </a:p>
          <a:p>
            <a:pPr marL="800100" lvl="1" indent="-342900">
              <a:buFont typeface="Wingdings" pitchFamily="2" charset="2"/>
              <a:buChar char="Ø"/>
            </a:pP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XXX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期刊编委</a:t>
            </a: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/XXX</a:t>
            </a:r>
            <a:r>
              <a:rPr kumimoji="1" lang="zh-CN" altLang="en-US" dirty="0">
                <a:solidFill>
                  <a:srgbClr val="113381"/>
                </a:solidFill>
                <a:latin typeface="Times New Roman" panose="02020603050405020304" pitchFamily="18" charset="0"/>
              </a:rPr>
              <a:t>会议领域主席</a:t>
            </a:r>
            <a:endParaRPr kumimoji="1" lang="en-US" altLang="zh-CN" dirty="0">
              <a:solidFill>
                <a:srgbClr val="113381"/>
              </a:solidFill>
              <a:latin typeface="Times New Roman" panose="02020603050405020304" pitchFamily="18" charset="0"/>
            </a:endParaRPr>
          </a:p>
          <a:p>
            <a:pPr marL="800100" lvl="1" indent="-342900">
              <a:buFont typeface="Wingdings" pitchFamily="2" charset="2"/>
              <a:buChar char="Ø"/>
            </a:pPr>
            <a:r>
              <a:rPr kumimoji="1" lang="en-US" altLang="zh-CN" dirty="0">
                <a:solidFill>
                  <a:srgbClr val="113381"/>
                </a:solidFill>
                <a:latin typeface="Times New Roman" panose="02020603050405020304" pitchFamily="18" charset="0"/>
              </a:rPr>
              <a:t>XXX</a:t>
            </a:r>
          </a:p>
          <a:p>
            <a:pPr marL="342900" indent="-342900">
              <a:buFont typeface="Wingdings" pitchFamily="2" charset="2"/>
              <a:buChar char="Ø"/>
            </a:pPr>
            <a:endParaRPr kumimoji="1" lang="en-US" altLang="zh-CN" dirty="0">
              <a:solidFill>
                <a:srgbClr val="11338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29D09BA-369B-9A4B-8D41-A8811E7340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073973"/>
              </p:ext>
            </p:extLst>
          </p:nvPr>
        </p:nvGraphicFramePr>
        <p:xfrm>
          <a:off x="6706896" y="3354923"/>
          <a:ext cx="5313307" cy="9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082">
                  <a:extLst>
                    <a:ext uri="{9D8B030D-6E8A-4147-A177-3AD203B41FA5}">
                      <a16:colId xmlns:a16="http://schemas.microsoft.com/office/drawing/2014/main" val="1066962081"/>
                    </a:ext>
                  </a:extLst>
                </a:gridCol>
                <a:gridCol w="3674225">
                  <a:extLst>
                    <a:ext uri="{9D8B030D-6E8A-4147-A177-3AD203B41FA5}">
                      <a16:colId xmlns:a16="http://schemas.microsoft.com/office/drawing/2014/main" val="146839463"/>
                    </a:ext>
                  </a:extLst>
                </a:gridCol>
              </a:tblGrid>
              <a:tr h="320400"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参与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VALSE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情况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概述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507103"/>
                  </a:ext>
                </a:extLst>
              </a:tr>
              <a:tr h="320400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VALSE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年度大会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2017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年参会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讲习班讲者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组委会成员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/XXX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925386"/>
                  </a:ext>
                </a:extLst>
              </a:tr>
              <a:tr h="320400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VALSE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Webinar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例如：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主持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次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推荐讲者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人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报告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785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6352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665C9-B9F5-7746-BA6B-877B6964C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905" y="336665"/>
            <a:ext cx="10789919" cy="66086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最具代表性的工作概述（可图示）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1627289"/>
      </p:ext>
    </p:extLst>
  </p:cSld>
  <p:clrMapOvr>
    <a:masterClrMapping/>
  </p:clrMapOvr>
</p:sld>
</file>

<file path=ppt/theme/theme1.xml><?xml version="1.0" encoding="utf-8"?>
<a:theme xmlns:a="http://schemas.openxmlformats.org/drawingml/2006/main" name="裁剪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裁剪</Template>
  <TotalTime>79</TotalTime>
  <Words>207</Words>
  <Application>Microsoft Office PowerPoint</Application>
  <PresentationFormat>宽屏</PresentationFormat>
  <Paragraphs>48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华文楷体</vt:lpstr>
      <vt:lpstr>Franklin Gothic Book</vt:lpstr>
      <vt:lpstr>Times New Roman</vt:lpstr>
      <vt:lpstr>Wingdings</vt:lpstr>
      <vt:lpstr>裁剪</vt:lpstr>
      <vt:lpstr>PowerPoint 演示文稿</vt:lpstr>
      <vt:lpstr>最具代表性的工作概述（可图示）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ZLJ</cp:lastModifiedBy>
  <cp:revision>80</cp:revision>
  <dcterms:created xsi:type="dcterms:W3CDTF">2018-10-19T00:54:49Z</dcterms:created>
  <dcterms:modified xsi:type="dcterms:W3CDTF">2020-01-19T08:19:01Z</dcterms:modified>
</cp:coreProperties>
</file>